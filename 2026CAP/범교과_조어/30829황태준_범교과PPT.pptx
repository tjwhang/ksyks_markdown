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80" r:id="rId16"/>
    <p:sldId id="27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맑은 고딕" panose="020B0503020000020004" pitchFamily="50" charset="-127"/>
      <p:regular r:id="rId26"/>
      <p:bold r:id="rId27"/>
    </p:embeddedFont>
    <p:embeddedFont>
      <p:font typeface="본고딕 Heavy" panose="020B0A00000000000000" pitchFamily="34" charset="-127"/>
      <p:bold r:id="rId28"/>
    </p:embeddedFont>
    <p:embeddedFont>
      <p:font typeface="페이퍼로지 7 Bold" pitchFamily="2" charset="-127"/>
      <p:bold r:id="rId29"/>
    </p:embeddedFont>
    <p:embeddedFont>
      <p:font typeface="프리젠테이션 4 Regular" pitchFamily="2" charset="-127"/>
      <p:regular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447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03830-6704-3859-63F6-BD31B1FAC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66387B-2400-480A-3B73-20BAA2754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618F2-FD56-6AF7-B71D-9C693B32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1E0BF-CE22-274B-11EA-A8B6123F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2D7C51-1C05-4112-CD9D-F27FE963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004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E458C-DC13-6D14-56B6-D71F08EE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0290C-8199-CB3D-E1CB-E16ED8A4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DD895-BC5F-702A-3BA0-EC16A8A1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966931-CF7D-FC7C-8451-ED8EDBB4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BFA7F-03DF-3668-C8A3-6F4958BB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3DD1C-1F30-6FAF-AF9E-EBC5FCCD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25B07B-DAD8-6ACC-4177-FA979DA83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20A79E-4ABB-71F3-3D86-AB279303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33E43-AE85-E9F9-9242-4ABF0C12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4DD0C-042B-1E15-A4FD-9F819283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128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7356B-1BF9-E512-C562-43C073D8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3307A-58DD-FD50-F6C7-F24634B2F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4D9D96-56E9-8DBC-CF36-2ECD77BC7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F5C270-56EA-35E4-A80A-4E54556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714489-B97A-F1E0-2AEF-B075D7F8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F6881C-EE99-1F1D-783F-117BD19E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72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58891-D9CC-A889-C5B8-9A8CBEF9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E32382-E39E-ADBD-A457-C21B5918D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5D320C-E783-85C8-77F4-C0F82DE68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B20307-30D5-141B-1A04-4B2800F56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00208F-56F3-9C39-8884-D84F05020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BFE29D-4D54-236E-8D8B-3F227B14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814858-338D-993A-ECDF-546248F9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290775-F02D-BE66-8103-46FEE042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22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552F0-9943-7133-DE85-7891F974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4953D4-07E5-012A-5DD2-F46BD207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78D1CE-C358-D9C0-2578-BAA6AE81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C121A7-D938-C4E5-4031-4CF8C68F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44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3FDFA4-4376-6C9E-CB3E-6BCD6D4A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1860DA-5714-BFCD-87A8-DFEBD971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C2863-BC0B-3A1A-6EFF-A2286405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53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72DC2-4EAF-88CE-174D-02687BEC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2C8D6-2666-BFF1-F49B-D339C8189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CB237F-483C-E00C-2F39-DE0651220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CC6074-BE90-112C-6757-BE27FA75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564766-A987-D714-A5E3-4B931A51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38BDF1-0944-5A56-11B5-B4FEBD5D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9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E9E96-6967-B614-3ADB-233A90F4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3C7F0D-0E1C-057B-917A-71D2784A1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484CAB-D4FC-BB5C-49D5-3953FBE8E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60FFBE-42D9-67E8-AD43-BD3EAC33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BF53EF-24D1-7F0A-CBD7-99F8BDAA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B6011F-D74E-D5BA-C07D-659712D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97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C5AFB-EA62-CB20-EB4F-6A1B68B0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2AA01B-57E8-E7EC-E797-A4A0856E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7A8806-6D97-1E3E-C1D3-736E2DCB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E03DE-1E61-5D92-5686-C0630A30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B2BFF3-F156-AB3E-5036-DB561A6C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49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EE4C99-B50C-C395-7ECF-ECA2BD708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C69AE9-FAD5-D3CA-BA4A-B1540859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9D6B3-CA20-BB22-A4A4-E9E79EB2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B3010-06FB-7B08-284F-AC2D9DA0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14089-0C3A-FF64-1937-BD29FB4F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02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1BD6DC-6C2D-4C4B-DB79-43D43FE8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E41993-F5E9-A16B-05DF-95BC5F956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B7186-7567-87FE-B321-A024A90A5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A9330-48BE-4702-A133-7C7639C013F2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3FD29-BDD0-DC13-60D0-AD4C50E52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A458D-5DDD-F8D3-53C8-3D79C2A1F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2750D-DF0E-4FD9-BAE1-7CC90A1F8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64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BD56F-584B-BE45-1044-64BB33925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4904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4400" dirty="0">
                <a:latin typeface="페이퍼로지 7 Bold" pitchFamily="2" charset="-127"/>
                <a:ea typeface="페이퍼로지 7 Bold" pitchFamily="2" charset="-127"/>
                <a:cs typeface="Pretendard ExtraBold" panose="02000903000000020004" pitchFamily="50" charset="-127"/>
              </a:rPr>
              <a:t>새로운 조어법 제안</a:t>
            </a:r>
            <a:br>
              <a:rPr lang="en-US" altLang="ko-KR" sz="4400" dirty="0">
                <a:latin typeface="페이퍼로지 7 Bold" pitchFamily="2" charset="-127"/>
                <a:ea typeface="페이퍼로지 7 Bold" pitchFamily="2" charset="-127"/>
                <a:cs typeface="Pretendard ExtraBold" panose="02000903000000020004" pitchFamily="50" charset="-127"/>
              </a:rPr>
            </a:br>
            <a:r>
              <a:rPr lang="ko-KR" altLang="en-US" sz="4400" dirty="0">
                <a:latin typeface="페이퍼로지 7 Bold" pitchFamily="2" charset="-127"/>
                <a:ea typeface="페이퍼로지 7 Bold" pitchFamily="2" charset="-127"/>
                <a:cs typeface="Pretendard ExtraBold" panose="02000903000000020004" pitchFamily="50" charset="-127"/>
              </a:rPr>
              <a:t>및 그 수학적 근거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157FEC-FBC2-109F-55AC-D13139F25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범교과융합 탐구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30829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황태준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767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23EE38-FEC4-05B7-2F79-F72A24BE4EFD}"/>
              </a:ext>
            </a:extLst>
          </p:cNvPr>
          <p:cNvSpPr txBox="1"/>
          <p:nvPr/>
        </p:nvSpPr>
        <p:spPr>
          <a:xfrm>
            <a:off x="5163693" y="1631578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D9602-577E-5238-8DCF-1E39DEAD7A34}"/>
              </a:ext>
            </a:extLst>
          </p:cNvPr>
          <p:cNvSpPr txBox="1"/>
          <p:nvPr/>
        </p:nvSpPr>
        <p:spPr>
          <a:xfrm>
            <a:off x="1693993" y="3033076"/>
            <a:ext cx="88040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다음 중 한자어가 아닌 것은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?</a:t>
            </a:r>
            <a:endParaRPr lang="ko-KR" altLang="en-US" sz="60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85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0CF2F2-CE49-DBFF-DC15-E66DCBFB4A11}"/>
              </a:ext>
            </a:extLst>
          </p:cNvPr>
          <p:cNvSpPr txBox="1"/>
          <p:nvPr/>
        </p:nvSpPr>
        <p:spPr>
          <a:xfrm>
            <a:off x="2011463" y="1207248"/>
            <a:ext cx="1810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무조건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B462C-ED46-4C82-54BD-3852303F8285}"/>
              </a:ext>
            </a:extLst>
          </p:cNvPr>
          <p:cNvSpPr txBox="1"/>
          <p:nvPr/>
        </p:nvSpPr>
        <p:spPr>
          <a:xfrm>
            <a:off x="2916517" y="2295233"/>
            <a:ext cx="1268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물론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A217B-4C85-704C-F49F-68035F9EC8C3}"/>
              </a:ext>
            </a:extLst>
          </p:cNvPr>
          <p:cNvSpPr txBox="1"/>
          <p:nvPr/>
        </p:nvSpPr>
        <p:spPr>
          <a:xfrm>
            <a:off x="5286569" y="1464236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과감히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88C6D-080B-7FC6-CA4D-96FDAE028DCD}"/>
              </a:ext>
            </a:extLst>
          </p:cNvPr>
          <p:cNvSpPr txBox="1"/>
          <p:nvPr/>
        </p:nvSpPr>
        <p:spPr>
          <a:xfrm>
            <a:off x="1029998" y="3556269"/>
            <a:ext cx="23519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막무가내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7D60A-669B-7B62-F6E4-6E91CB80A8FD}"/>
              </a:ext>
            </a:extLst>
          </p:cNvPr>
          <p:cNvSpPr txBox="1"/>
          <p:nvPr/>
        </p:nvSpPr>
        <p:spPr>
          <a:xfrm>
            <a:off x="5633204" y="2935251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별안간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B5D6F-8AE5-8FBA-B451-7FAF5E3973EB}"/>
              </a:ext>
            </a:extLst>
          </p:cNvPr>
          <p:cNvSpPr txBox="1"/>
          <p:nvPr/>
        </p:nvSpPr>
        <p:spPr>
          <a:xfrm>
            <a:off x="8707076" y="947406"/>
            <a:ext cx="1268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지금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47CA9-FBAA-E555-DAE4-99AB028BDE1C}"/>
              </a:ext>
            </a:extLst>
          </p:cNvPr>
          <p:cNvSpPr txBox="1"/>
          <p:nvPr/>
        </p:nvSpPr>
        <p:spPr>
          <a:xfrm>
            <a:off x="9001325" y="2516362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순식간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B8465-6E43-C7C5-3F4F-B327435B571B}"/>
              </a:ext>
            </a:extLst>
          </p:cNvPr>
          <p:cNvSpPr txBox="1"/>
          <p:nvPr/>
        </p:nvSpPr>
        <p:spPr>
          <a:xfrm>
            <a:off x="8045848" y="3669819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어차피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72358-4A58-12D7-E7AB-458602C3C2D4}"/>
              </a:ext>
            </a:extLst>
          </p:cNvPr>
          <p:cNvSpPr txBox="1"/>
          <p:nvPr/>
        </p:nvSpPr>
        <p:spPr>
          <a:xfrm>
            <a:off x="4227049" y="3971767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심지어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02F2AA-9D86-9BA0-9725-BD6774434DA0}"/>
              </a:ext>
            </a:extLst>
          </p:cNvPr>
          <p:cNvSpPr txBox="1"/>
          <p:nvPr/>
        </p:nvSpPr>
        <p:spPr>
          <a:xfrm>
            <a:off x="6374928" y="4933980"/>
            <a:ext cx="1810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도대체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230FB-DE81-0A8A-3E21-34F15AC9F6CC}"/>
              </a:ext>
            </a:extLst>
          </p:cNvPr>
          <p:cNvSpPr txBox="1"/>
          <p:nvPr/>
        </p:nvSpPr>
        <p:spPr>
          <a:xfrm>
            <a:off x="6809167" y="416657"/>
            <a:ext cx="1268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점심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AE065-67C1-8CE5-3338-032B602A7F2E}"/>
              </a:ext>
            </a:extLst>
          </p:cNvPr>
          <p:cNvSpPr txBox="1"/>
          <p:nvPr/>
        </p:nvSpPr>
        <p:spPr>
          <a:xfrm>
            <a:off x="2113628" y="4933979"/>
            <a:ext cx="1268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>
                <a:latin typeface="페이퍼로지 7 Bold" pitchFamily="2" charset="-127"/>
                <a:ea typeface="페이퍼로지 7 Bold" pitchFamily="2" charset="-127"/>
              </a:rPr>
              <a:t>제발</a:t>
            </a:r>
            <a:endParaRPr lang="ko-KR" altLang="en-US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19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4D20-56C8-2184-6DB8-D2734A93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59E677-A5AD-DB7B-EF1F-8C4BE555C438}"/>
              </a:ext>
            </a:extLst>
          </p:cNvPr>
          <p:cNvSpPr txBox="1"/>
          <p:nvPr/>
        </p:nvSpPr>
        <p:spPr>
          <a:xfrm>
            <a:off x="1900857" y="1207248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無條件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E3B15-E887-69C1-0444-FAA834501A18}"/>
              </a:ext>
            </a:extLst>
          </p:cNvPr>
          <p:cNvSpPr txBox="1"/>
          <p:nvPr/>
        </p:nvSpPr>
        <p:spPr>
          <a:xfrm>
            <a:off x="2842779" y="2295233"/>
            <a:ext cx="14157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勿論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B9FB8-4D86-DE78-A27C-9A18244D1C4C}"/>
              </a:ext>
            </a:extLst>
          </p:cNvPr>
          <p:cNvSpPr txBox="1"/>
          <p:nvPr/>
        </p:nvSpPr>
        <p:spPr>
          <a:xfrm>
            <a:off x="5200809" y="1464236"/>
            <a:ext cx="1981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果敢</a:t>
            </a:r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8EA28-AB46-44F1-68C3-954B630F2332}"/>
              </a:ext>
            </a:extLst>
          </p:cNvPr>
          <p:cNvSpPr txBox="1"/>
          <p:nvPr/>
        </p:nvSpPr>
        <p:spPr>
          <a:xfrm>
            <a:off x="882523" y="3556269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莫無可奈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9434A-4D33-5381-DAC2-5CA0838915A4}"/>
              </a:ext>
            </a:extLst>
          </p:cNvPr>
          <p:cNvSpPr txBox="1"/>
          <p:nvPr/>
        </p:nvSpPr>
        <p:spPr>
          <a:xfrm>
            <a:off x="5522598" y="2935251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瞥眼間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9B616-61A6-AE7C-91A1-9F98073E0310}"/>
              </a:ext>
            </a:extLst>
          </p:cNvPr>
          <p:cNvSpPr txBox="1"/>
          <p:nvPr/>
        </p:nvSpPr>
        <p:spPr>
          <a:xfrm>
            <a:off x="8633338" y="947406"/>
            <a:ext cx="14157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只今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408E3-C96C-38F1-2698-9A093EC7AC0E}"/>
              </a:ext>
            </a:extLst>
          </p:cNvPr>
          <p:cNvSpPr txBox="1"/>
          <p:nvPr/>
        </p:nvSpPr>
        <p:spPr>
          <a:xfrm>
            <a:off x="8890718" y="2516362"/>
            <a:ext cx="2031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瞬息間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04658-6950-81BF-A4A1-95285F4664D8}"/>
              </a:ext>
            </a:extLst>
          </p:cNvPr>
          <p:cNvSpPr txBox="1"/>
          <p:nvPr/>
        </p:nvSpPr>
        <p:spPr>
          <a:xfrm>
            <a:off x="7935242" y="3669819"/>
            <a:ext cx="2031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於此彼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D500CD-3C85-F9B8-D42C-9C580EED9C48}"/>
              </a:ext>
            </a:extLst>
          </p:cNvPr>
          <p:cNvSpPr txBox="1"/>
          <p:nvPr/>
        </p:nvSpPr>
        <p:spPr>
          <a:xfrm>
            <a:off x="4116443" y="3971767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甚至於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8FCD3-C7E1-7A69-B1DD-657DA9A85506}"/>
              </a:ext>
            </a:extLst>
          </p:cNvPr>
          <p:cNvSpPr txBox="1"/>
          <p:nvPr/>
        </p:nvSpPr>
        <p:spPr>
          <a:xfrm>
            <a:off x="6264322" y="4933980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都大體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D9C6D-C09A-A961-6AD4-FDA7BECD19E6}"/>
              </a:ext>
            </a:extLst>
          </p:cNvPr>
          <p:cNvSpPr txBox="1"/>
          <p:nvPr/>
        </p:nvSpPr>
        <p:spPr>
          <a:xfrm>
            <a:off x="6735429" y="416657"/>
            <a:ext cx="14157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點心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CEB7C-939C-D61F-5299-14551C4C8A8D}"/>
              </a:ext>
            </a:extLst>
          </p:cNvPr>
          <p:cNvSpPr txBox="1"/>
          <p:nvPr/>
        </p:nvSpPr>
        <p:spPr>
          <a:xfrm>
            <a:off x="2113628" y="4933979"/>
            <a:ext cx="1268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제발</a:t>
            </a:r>
          </a:p>
        </p:txBody>
      </p:sp>
    </p:spTree>
    <p:extLst>
      <p:ext uri="{BB962C8B-B14F-4D97-AF65-F5344CB8AC3E}">
        <p14:creationId xmlns:p14="http://schemas.microsoft.com/office/powerpoint/2010/main" val="317892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4955-E895-D658-4FB4-64E7E96B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82E21A-AB10-51AC-6F43-92F54A2AF43A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2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E0AA0-E111-BC30-0312-D40880905094}"/>
              </a:ext>
            </a:extLst>
          </p:cNvPr>
          <p:cNvSpPr txBox="1"/>
          <p:nvPr/>
        </p:nvSpPr>
        <p:spPr>
          <a:xfrm>
            <a:off x="3644048" y="1957261"/>
            <a:ext cx="490390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>
                <a:latin typeface="페이퍼로지 7 Bold" pitchFamily="2" charset="-127"/>
                <a:ea typeface="페이퍼로지 7 Bold" pitchFamily="2" charset="-127"/>
              </a:rPr>
              <a:t>이상한 점을 </a:t>
            </a:r>
            <a:r>
              <a:rPr lang="ko-KR" altLang="en-US" sz="4400" dirty="0" err="1">
                <a:latin typeface="페이퍼로지 7 Bold" pitchFamily="2" charset="-127"/>
                <a:ea typeface="페이퍼로지 7 Bold" pitchFamily="2" charset="-127"/>
              </a:rPr>
              <a:t>찾으시오</a:t>
            </a:r>
            <a:endParaRPr lang="en-US" altLang="ko-KR" sz="44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endParaRPr lang="en-US" altLang="ko-KR" sz="60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주차장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駐車場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/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선착장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船着場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688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F67E-36DC-74BC-D15F-725F33A4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D312CD-681B-545B-11A8-EB6544892021}"/>
              </a:ext>
            </a:extLst>
          </p:cNvPr>
          <p:cNvSpPr txBox="1"/>
          <p:nvPr/>
        </p:nvSpPr>
        <p:spPr>
          <a:xfrm>
            <a:off x="3720189" y="1997839"/>
            <a:ext cx="47516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rgbClr val="00B0F0"/>
                </a:solidFill>
                <a:latin typeface="페이퍼로지 7 Bold" pitchFamily="2" charset="-127"/>
                <a:ea typeface="페이퍼로지 7 Bold" pitchFamily="2" charset="-127"/>
              </a:rPr>
              <a:t>주</a:t>
            </a:r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차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장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6000" dirty="0">
                <a:solidFill>
                  <a:srgbClr val="00B0F0"/>
                </a:solidFill>
                <a:latin typeface="페이퍼로지 7 Bold" pitchFamily="2" charset="-127"/>
                <a:ea typeface="페이퍼로지 7 Bold" pitchFamily="2" charset="-127"/>
              </a:rPr>
              <a:t>駐</a:t>
            </a:r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車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場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/>
            <a:endParaRPr lang="en-US" altLang="ko-KR" sz="60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선</a:t>
            </a:r>
            <a:r>
              <a:rPr lang="ko-KR" altLang="en-US" sz="6000" dirty="0">
                <a:solidFill>
                  <a:srgbClr val="00B0F0"/>
                </a:solidFill>
                <a:latin typeface="페이퍼로지 7 Bold" pitchFamily="2" charset="-127"/>
                <a:ea typeface="페이퍼로지 7 Bold" pitchFamily="2" charset="-127"/>
              </a:rPr>
              <a:t>착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장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船</a:t>
            </a:r>
            <a:r>
              <a:rPr lang="ko-KR" altLang="en-US" sz="6000" dirty="0">
                <a:solidFill>
                  <a:srgbClr val="00B0F0"/>
                </a:solidFill>
                <a:latin typeface="페이퍼로지 7 Bold" pitchFamily="2" charset="-127"/>
                <a:ea typeface="페이퍼로지 7 Bold" pitchFamily="2" charset="-127"/>
              </a:rPr>
              <a:t>着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場</a:t>
            </a:r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608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3D8B9-1030-C84B-44E4-273C2258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1B6823-0DAE-F3E1-BBD1-67CE68D5D2FA}"/>
              </a:ext>
            </a:extLst>
          </p:cNvPr>
          <p:cNvSpPr txBox="1"/>
          <p:nvPr/>
        </p:nvSpPr>
        <p:spPr>
          <a:xfrm>
            <a:off x="4650732" y="1997839"/>
            <a:ext cx="289053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4"/>
                </a:solidFill>
                <a:latin typeface="페이퍼로지 7 Bold" pitchFamily="2" charset="-127"/>
                <a:ea typeface="페이퍼로지 7 Bold" pitchFamily="2" charset="-127"/>
              </a:rPr>
              <a:t>駐</a:t>
            </a:r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車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場</a:t>
            </a:r>
            <a:endParaRPr lang="en-US" altLang="ko-KR" sz="60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endParaRPr lang="en-US" altLang="ko-KR" sz="60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6000" dirty="0"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</a:rPr>
              <a:t>船</a:t>
            </a:r>
            <a:r>
              <a:rPr lang="ko-KR" altLang="en-US" sz="6000" dirty="0">
                <a:solidFill>
                  <a:schemeClr val="accent4"/>
                </a:solidFill>
                <a:latin typeface="페이퍼로지 7 Bold" pitchFamily="2" charset="-127"/>
                <a:ea typeface="페이퍼로지 7 Bold" pitchFamily="2" charset="-127"/>
              </a:rPr>
              <a:t>着</a:t>
            </a:r>
            <a:r>
              <a:rPr lang="ja-JP" altLang="en-US" sz="6000" dirty="0">
                <a:solidFill>
                  <a:schemeClr val="accent4"/>
                </a:solidFill>
                <a:latin typeface="페이퍼로지 7 Bold" pitchFamily="2" charset="-127"/>
                <a:ea typeface="페이퍼로지 7 Bold" pitchFamily="2" charset="-127"/>
              </a:rPr>
              <a:t>き</a:t>
            </a:r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場</a:t>
            </a:r>
            <a:endParaRPr lang="en-US" altLang="ko-KR" sz="6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660630-8003-5244-B361-3387E4BE894C}"/>
              </a:ext>
            </a:extLst>
          </p:cNvPr>
          <p:cNvSpPr txBox="1"/>
          <p:nvPr/>
        </p:nvSpPr>
        <p:spPr>
          <a:xfrm>
            <a:off x="3628016" y="4860161"/>
            <a:ext cx="4935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일본어에서는 훈독 고유어가 많이 쓰이고 있다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  <a:endParaRPr lang="ko-KR" altLang="en-US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CC1F3-9E2B-FF46-3D0B-C9EAFA4EFE25}"/>
              </a:ext>
            </a:extLst>
          </p:cNvPr>
          <p:cNvSpPr txBox="1"/>
          <p:nvPr/>
        </p:nvSpPr>
        <p:spPr>
          <a:xfrm>
            <a:off x="7541267" y="4116089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= </a:t>
            </a:r>
            <a:r>
              <a:rPr lang="ko-KR" altLang="en-US" sz="28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배</a:t>
            </a:r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800" dirty="0">
                <a:solidFill>
                  <a:schemeClr val="accent4"/>
                </a:solidFill>
                <a:latin typeface="프리젠테이션 4 Regular" pitchFamily="2" charset="-127"/>
                <a:ea typeface="프리젠테이션 4 Regular" pitchFamily="2" charset="-127"/>
              </a:rPr>
              <a:t>들어오는</a:t>
            </a:r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 곳</a:t>
            </a:r>
          </a:p>
        </p:txBody>
      </p:sp>
    </p:spTree>
    <p:extLst>
      <p:ext uri="{BB962C8B-B14F-4D97-AF65-F5344CB8AC3E}">
        <p14:creationId xmlns:p14="http://schemas.microsoft.com/office/powerpoint/2010/main" val="1452605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E3B5618-DEF3-3330-6E35-E6FF82C68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43" y="2350666"/>
            <a:ext cx="9588312" cy="1606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34076-1DBE-CEC8-28E6-BCDF5746A06B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3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DF838-C871-6472-90BD-7892AEC53233}"/>
              </a:ext>
            </a:extLst>
          </p:cNvPr>
          <p:cNvSpPr txBox="1"/>
          <p:nvPr/>
        </p:nvSpPr>
        <p:spPr>
          <a:xfrm>
            <a:off x="2819301" y="4454753"/>
            <a:ext cx="65533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LLM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이 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자연스러움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이라고 </a:t>
            </a:r>
            <a:r>
              <a:rPr lang="ko-KR" altLang="en-US" sz="2400" dirty="0" err="1">
                <a:latin typeface="프리젠테이션 4 Regular" pitchFamily="2" charset="-127"/>
                <a:ea typeface="프리젠테이션 4 Regular" pitchFamily="2" charset="-127"/>
              </a:rPr>
              <a:t>해야할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 것을 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자연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이라고 하는 등</a:t>
            </a: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/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뭘 빼먹는 현상</a:t>
            </a:r>
          </a:p>
        </p:txBody>
      </p:sp>
    </p:spTree>
    <p:extLst>
      <p:ext uri="{BB962C8B-B14F-4D97-AF65-F5344CB8AC3E}">
        <p14:creationId xmlns:p14="http://schemas.microsoft.com/office/powerpoint/2010/main" val="3259376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3B25-7DD7-C32D-A007-C036C48A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01B9A0-B75D-FF68-883A-A0096F5F9621}"/>
              </a:ext>
            </a:extLst>
          </p:cNvPr>
          <p:cNvSpPr txBox="1"/>
          <p:nvPr/>
        </p:nvSpPr>
        <p:spPr>
          <a:xfrm>
            <a:off x="5551620" y="1631578"/>
            <a:ext cx="1088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유추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750DF-94AC-0C2E-E78B-888AEF76B5F8}"/>
              </a:ext>
            </a:extLst>
          </p:cNvPr>
          <p:cNvSpPr txBox="1"/>
          <p:nvPr/>
        </p:nvSpPr>
        <p:spPr>
          <a:xfrm>
            <a:off x="2194130" y="2948877"/>
            <a:ext cx="78037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한국어 고유어가 한자어에 비해</a:t>
            </a:r>
            <a:endParaRPr lang="en-US" altLang="ko-KR" sz="4800" dirty="0"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효용성</a:t>
            </a:r>
            <a:r>
              <a:rPr lang="en-US" altLang="ko-KR" sz="48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4800" dirty="0">
                <a:latin typeface="페이퍼로지 7 Bold" pitchFamily="2" charset="-127"/>
                <a:ea typeface="페이퍼로지 7 Bold" pitchFamily="2" charset="-127"/>
              </a:rPr>
              <a:t>경제성이 떨어질 것이다</a:t>
            </a:r>
            <a:endParaRPr lang="en-US" altLang="ko-KR" sz="48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27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0944-568A-6F42-FECE-624EB742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D9583F-2BD5-5901-97EB-96D6BBE7418A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4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8A211-22E8-9200-824A-F1300D15A60D}"/>
              </a:ext>
            </a:extLst>
          </p:cNvPr>
          <p:cNvSpPr txBox="1"/>
          <p:nvPr/>
        </p:nvSpPr>
        <p:spPr>
          <a:xfrm>
            <a:off x="1541929" y="2348753"/>
            <a:ext cx="408797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4000" dirty="0" err="1">
                <a:latin typeface="본고딕 Heavy" panose="020B0A00000000000000" pitchFamily="34" charset="-127"/>
                <a:ea typeface="본고딕 Heavy" panose="020B0A00000000000000" pitchFamily="34" charset="-127"/>
              </a:rPr>
              <a:t>メツカシク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~ヲ感ジタ</a:t>
            </a: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~ニ違イナカッタ</a:t>
            </a: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~ヲ覺ェタ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F7D09-735B-5A0C-D3D8-AB757DA60B0E}"/>
              </a:ext>
            </a:extLst>
          </p:cNvPr>
          <p:cNvSpPr txBox="1"/>
          <p:nvPr/>
        </p:nvSpPr>
        <p:spPr>
          <a:xfrm>
            <a:off x="6848965" y="2225642"/>
            <a:ext cx="30091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1900</a:t>
            </a:r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년대 작가들은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먼저 일본어로 생각하고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한국어로 옮길 때 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어려움을 겪었다고 함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800" dirty="0" err="1">
                <a:latin typeface="프리젠테이션 4 Regular" pitchFamily="2" charset="-127"/>
                <a:ea typeface="프리젠테이션 4 Regular" pitchFamily="2" charset="-127"/>
              </a:rPr>
              <a:t>김치홍</a:t>
            </a: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, 1984)</a:t>
            </a:r>
            <a:endParaRPr lang="ko-KR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16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4B7D-6A47-FDA3-BF88-20183EA7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38C7F1-F604-4AD6-1E2F-8EA7C78D44D9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4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D8AB7-7C1C-C017-BA0B-0D8D80969718}"/>
              </a:ext>
            </a:extLst>
          </p:cNvPr>
          <p:cNvSpPr txBox="1"/>
          <p:nvPr/>
        </p:nvSpPr>
        <p:spPr>
          <a:xfrm>
            <a:off x="1541929" y="2348753"/>
            <a:ext cx="408797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目映ゆ</a:t>
            </a:r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く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を感じた</a:t>
            </a:r>
            <a:endParaRPr lang="ko-KR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に違いなかった</a:t>
            </a:r>
            <a:endParaRPr lang="ko-KR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を覚えた</a:t>
            </a:r>
            <a:endParaRPr lang="ko-KR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46DC4-0A9B-0114-FAB5-59E77280C7E2}"/>
              </a:ext>
            </a:extLst>
          </p:cNvPr>
          <p:cNvSpPr txBox="1"/>
          <p:nvPr/>
        </p:nvSpPr>
        <p:spPr>
          <a:xfrm>
            <a:off x="6096000" y="2381227"/>
            <a:ext cx="47949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정답게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을 느꼈다</a:t>
            </a:r>
            <a:endParaRPr lang="ko-KR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ko-KR" altLang="en-US" sz="4000" dirty="0" err="1">
                <a:latin typeface="본고딕 Heavy" panose="020B0A00000000000000" pitchFamily="34" charset="-127"/>
                <a:ea typeface="본고딕 Heavy" panose="020B0A00000000000000" pitchFamily="34" charset="-127"/>
              </a:rPr>
              <a:t>에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 틀림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다름없었다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~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을 느꼈다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(</a:t>
            </a:r>
            <a:r>
              <a:rPr lang="ko-KR" altLang="en-US" sz="4000" dirty="0" err="1">
                <a:latin typeface="본고딕 Heavy" panose="020B0A00000000000000" pitchFamily="34" charset="-127"/>
                <a:ea typeface="본고딕 Heavy" panose="020B0A00000000000000" pitchFamily="34" charset="-127"/>
              </a:rPr>
              <a:t>깨달았다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)</a:t>
            </a:r>
            <a:endParaRPr lang="ko-KR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788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EF71-81C0-A70A-908F-94BCFEAB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B3A7C5-86BF-BE49-437F-F4709BFD7942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4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25100F-89B4-9061-47A3-1A83E4E94B25}"/>
              </a:ext>
            </a:extLst>
          </p:cNvPr>
          <p:cNvSpPr txBox="1"/>
          <p:nvPr/>
        </p:nvSpPr>
        <p:spPr>
          <a:xfrm>
            <a:off x="2004083" y="2970307"/>
            <a:ext cx="306846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주식 </a:t>
            </a:r>
            <a:r>
              <a:rPr lang="en-US" altLang="ko-KR" sz="4000" dirty="0">
                <a:solidFill>
                  <a:schemeClr val="bg2"/>
                </a:solidFill>
                <a:latin typeface="본고딕 Heavy" panose="020B0A00000000000000" pitchFamily="34" charset="-127"/>
                <a:ea typeface="본고딕 Heavy" panose="020B0A00000000000000" pitchFamily="34" charset="-127"/>
              </a:rPr>
              <a:t>(</a:t>
            </a:r>
            <a:r>
              <a:rPr lang="ko-KR" altLang="en-US" sz="4000" dirty="0">
                <a:solidFill>
                  <a:schemeClr val="bg2"/>
                </a:solidFill>
                <a:latin typeface="본고딕 Heavy" panose="020B0A00000000000000" pitchFamily="34" charset="-127"/>
                <a:ea typeface="본고딕 Heavy" panose="020B0A00000000000000" pitchFamily="34" charset="-127"/>
              </a:rPr>
              <a:t>코스피</a:t>
            </a:r>
            <a:r>
              <a:rPr lang="en-US" altLang="ko-KR" sz="4000" dirty="0">
                <a:solidFill>
                  <a:schemeClr val="bg2"/>
                </a:solidFill>
                <a:latin typeface="본고딕 Heavy" panose="020B0A00000000000000" pitchFamily="34" charset="-127"/>
                <a:ea typeface="본고딕 Heavy" panose="020B0A00000000000000" pitchFamily="34" charset="-127"/>
              </a:rPr>
              <a:t>)</a:t>
            </a: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미적분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독일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기압경도력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건물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AF816-86FA-FA91-1B0C-D3EED676B3D7}"/>
              </a:ext>
            </a:extLst>
          </p:cNvPr>
          <p:cNvSpPr txBox="1"/>
          <p:nvPr/>
        </p:nvSpPr>
        <p:spPr>
          <a:xfrm>
            <a:off x="2332789" y="1801873"/>
            <a:ext cx="7526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페이퍼로지 7 Bold" pitchFamily="2" charset="-127"/>
                <a:ea typeface="페이퍼로지 7 Bold" pitchFamily="2" charset="-127"/>
              </a:rPr>
              <a:t>다음 중 일본에서 유래한 한자어는</a:t>
            </a:r>
            <a:r>
              <a:rPr lang="en-US" altLang="ko-KR" sz="4000" dirty="0">
                <a:latin typeface="페이퍼로지 7 Bold" pitchFamily="2" charset="-127"/>
                <a:ea typeface="페이퍼로지 7 Bold" pitchFamily="2" charset="-127"/>
              </a:rPr>
              <a:t>?</a:t>
            </a:r>
            <a:endParaRPr lang="ko-KR" altLang="ko-KR" sz="4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11589-1D33-0404-6547-422A4389F04B}"/>
              </a:ext>
            </a:extLst>
          </p:cNvPr>
          <p:cNvSpPr txBox="1"/>
          <p:nvPr/>
        </p:nvSpPr>
        <p:spPr>
          <a:xfrm>
            <a:off x="5258272" y="2970307"/>
            <a:ext cx="608371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사회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과학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철학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시간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공간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경제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자본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가치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연설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수입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입장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기분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결점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취소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수속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조선민주주의인민공화국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중화인민공화국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96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0D73-AC71-DB7B-8E9D-DA100C39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A607BE-EA9C-D7C6-504B-2B5D2C4FF5F4}"/>
              </a:ext>
            </a:extLst>
          </p:cNvPr>
          <p:cNvSpPr txBox="1"/>
          <p:nvPr/>
        </p:nvSpPr>
        <p:spPr>
          <a:xfrm>
            <a:off x="5163693" y="675342"/>
            <a:ext cx="1864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사례</a:t>
            </a:r>
            <a:r>
              <a:rPr lang="en-US" altLang="ko-KR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4</a:t>
            </a:r>
            <a:endParaRPr lang="ko-KR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531E4-856E-0DA7-E6FF-06C79E827128}"/>
              </a:ext>
            </a:extLst>
          </p:cNvPr>
          <p:cNvSpPr txBox="1"/>
          <p:nvPr/>
        </p:nvSpPr>
        <p:spPr>
          <a:xfrm>
            <a:off x="2004083" y="2970307"/>
            <a:ext cx="274947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株式 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微積分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獨逸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氣壓傾度力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建物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864A9-EC1E-FC61-29E0-F0E66987E268}"/>
              </a:ext>
            </a:extLst>
          </p:cNvPr>
          <p:cNvSpPr txBox="1"/>
          <p:nvPr/>
        </p:nvSpPr>
        <p:spPr>
          <a:xfrm>
            <a:off x="2332789" y="1801873"/>
            <a:ext cx="7526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페이퍼로지 7 Bold" pitchFamily="2" charset="-127"/>
                <a:ea typeface="페이퍼로지 7 Bold" pitchFamily="2" charset="-127"/>
              </a:rPr>
              <a:t>다음 중 일본에서 유래한 한자어는</a:t>
            </a:r>
            <a:r>
              <a:rPr lang="en-US" altLang="ko-KR" sz="4000" dirty="0">
                <a:latin typeface="페이퍼로지 7 Bold" pitchFamily="2" charset="-127"/>
                <a:ea typeface="페이퍼로지 7 Bold" pitchFamily="2" charset="-127"/>
              </a:rPr>
              <a:t>?</a:t>
            </a:r>
            <a:endParaRPr lang="ko-KR" altLang="ko-KR" sz="40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E2D2D-BD95-41AD-DB45-7B32FFE770AD}"/>
              </a:ext>
            </a:extLst>
          </p:cNvPr>
          <p:cNvSpPr txBox="1"/>
          <p:nvPr/>
        </p:nvSpPr>
        <p:spPr>
          <a:xfrm>
            <a:off x="5258272" y="2970307"/>
            <a:ext cx="650049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社會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科學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哲學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時間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空間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經濟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資本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價値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演說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收入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立場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氣分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缺點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取消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手續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朝鮮</a:t>
            </a:r>
            <a:r>
              <a:rPr lang="ko-KR" altLang="en-US" sz="4000" dirty="0">
                <a:solidFill>
                  <a:srgbClr val="FF0000"/>
                </a:solidFill>
                <a:latin typeface="본고딕 Heavy" panose="020B0A00000000000000" pitchFamily="34" charset="-127"/>
                <a:ea typeface="본고딕 Heavy" panose="020B0A00000000000000" pitchFamily="34" charset="-127"/>
              </a:rPr>
              <a:t>民主主義人民共和國</a:t>
            </a:r>
            <a:endParaRPr lang="en-US" altLang="ko-KR" sz="4000" dirty="0">
              <a:solidFill>
                <a:srgbClr val="FF0000"/>
              </a:solidFill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中華</a:t>
            </a:r>
            <a:r>
              <a:rPr lang="ko-KR" altLang="en-US" sz="4000" dirty="0">
                <a:solidFill>
                  <a:srgbClr val="FF0000"/>
                </a:solidFill>
                <a:latin typeface="본고딕 Heavy" panose="020B0A00000000000000" pitchFamily="34" charset="-127"/>
                <a:ea typeface="본고딕 Heavy" panose="020B0A00000000000000" pitchFamily="34" charset="-127"/>
              </a:rPr>
              <a:t>人民共和國</a:t>
            </a:r>
            <a:endParaRPr lang="en-US" altLang="ko-KR" sz="4000" dirty="0">
              <a:solidFill>
                <a:srgbClr val="FF0000"/>
              </a:solidFill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594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257E-EDB2-4BF8-7FBC-024735E3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B387C-7688-9B34-4CDB-3EF52E69452C}"/>
              </a:ext>
            </a:extLst>
          </p:cNvPr>
          <p:cNvSpPr txBox="1"/>
          <p:nvPr/>
        </p:nvSpPr>
        <p:spPr>
          <a:xfrm>
            <a:off x="5394526" y="1631578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본론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621D1-DF49-BC15-2239-687E10234DE9}"/>
              </a:ext>
            </a:extLst>
          </p:cNvPr>
          <p:cNvSpPr txBox="1"/>
          <p:nvPr/>
        </p:nvSpPr>
        <p:spPr>
          <a:xfrm>
            <a:off x="2451419" y="3033076"/>
            <a:ext cx="7289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한국어 고유어의 경쟁력</a:t>
            </a:r>
          </a:p>
        </p:txBody>
      </p:sp>
    </p:spTree>
    <p:extLst>
      <p:ext uri="{BB962C8B-B14F-4D97-AF65-F5344CB8AC3E}">
        <p14:creationId xmlns:p14="http://schemas.microsoft.com/office/powerpoint/2010/main" val="1151179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8A1630-DBB7-CAF7-4044-0AE37F2FF7C7}"/>
              </a:ext>
            </a:extLst>
          </p:cNvPr>
          <p:cNvSpPr txBox="1"/>
          <p:nvPr/>
        </p:nvSpPr>
        <p:spPr>
          <a:xfrm>
            <a:off x="8844154" y="1144727"/>
            <a:ext cx="274947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乗り場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ゴミ捨て場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立場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入口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出口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訓読み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ja-JP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音読み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39745-351C-8D65-1822-850B745A7213}"/>
              </a:ext>
            </a:extLst>
          </p:cNvPr>
          <p:cNvSpPr txBox="1"/>
          <p:nvPr/>
        </p:nvSpPr>
        <p:spPr>
          <a:xfrm>
            <a:off x="4660624" y="1228397"/>
            <a:ext cx="371768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타는 곳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쓰레기 버리는 곳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선 곳</a:t>
            </a:r>
            <a:r>
              <a:rPr lang="en-US" altLang="ko-KR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, </a:t>
            </a:r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선 자리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들어가는 곳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나가는 곳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훈으로 읽기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음으로 읽기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ADA32-7E88-FEA7-9D12-6CDDF0D2CF80}"/>
              </a:ext>
            </a:extLst>
          </p:cNvPr>
          <p:cNvSpPr txBox="1"/>
          <p:nvPr/>
        </p:nvSpPr>
        <p:spPr>
          <a:xfrm>
            <a:off x="1575796" y="1228397"/>
            <a:ext cx="206979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승강장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쓰레기장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입장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입구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출구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훈독</a:t>
            </a:r>
            <a:endParaRPr lang="en-US" altLang="ko-KR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  <a:p>
            <a:r>
              <a:rPr lang="ko-KR" altLang="en-US" sz="4000" dirty="0">
                <a:latin typeface="본고딕 Heavy" panose="020B0A00000000000000" pitchFamily="34" charset="-127"/>
                <a:ea typeface="본고딕 Heavy" panose="020B0A00000000000000" pitchFamily="34" charset="-127"/>
              </a:rPr>
              <a:t>음독</a:t>
            </a:r>
            <a:endParaRPr lang="en-US" altLang="ja-JP" sz="4000" dirty="0">
              <a:latin typeface="본고딕 Heavy" panose="020B0A00000000000000" pitchFamily="34" charset="-127"/>
              <a:ea typeface="본고딕 Heavy" panose="020B0A00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9E433-42C1-32AD-FA2D-35E6E3E2D967}"/>
              </a:ext>
            </a:extLst>
          </p:cNvPr>
          <p:cNvSpPr txBox="1"/>
          <p:nvPr/>
        </p:nvSpPr>
        <p:spPr>
          <a:xfrm>
            <a:off x="3878886" y="5922682"/>
            <a:ext cx="4434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음절 수 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문법형태소 수가 제일 큰 요인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  <a:endParaRPr lang="ko-KR" altLang="en-US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1081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7589-3162-A248-B57C-B4EC6389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E45D7E-7969-35F8-59C9-3FE8D97CD013}"/>
              </a:ext>
            </a:extLst>
          </p:cNvPr>
          <p:cNvSpPr txBox="1"/>
          <p:nvPr/>
        </p:nvSpPr>
        <p:spPr>
          <a:xfrm>
            <a:off x="5394526" y="1631578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본론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6CB50-08B5-662C-6E6D-8B444D0984B2}"/>
              </a:ext>
            </a:extLst>
          </p:cNvPr>
          <p:cNvSpPr txBox="1"/>
          <p:nvPr/>
        </p:nvSpPr>
        <p:spPr>
          <a:xfrm>
            <a:off x="3551074" y="3033076"/>
            <a:ext cx="50898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페이퍼로지 7 Bold" pitchFamily="2" charset="-127"/>
                <a:ea typeface="페이퍼로지 7 Bold" pitchFamily="2" charset="-127"/>
              </a:rPr>
              <a:t>단어경쟁력 지수</a:t>
            </a:r>
          </a:p>
        </p:txBody>
      </p:sp>
    </p:spTree>
    <p:extLst>
      <p:ext uri="{BB962C8B-B14F-4D97-AF65-F5344CB8AC3E}">
        <p14:creationId xmlns:p14="http://schemas.microsoft.com/office/powerpoint/2010/main" val="278535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1B891A-C39B-3E7B-1109-0ADC79E6A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05" y="1682279"/>
            <a:ext cx="8848790" cy="10191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04263F-229A-8766-16EB-81D2B40862C2}"/>
                  </a:ext>
                </a:extLst>
              </p:cNvPr>
              <p:cNvSpPr txBox="1"/>
              <p:nvPr/>
            </p:nvSpPr>
            <p:spPr>
              <a:xfrm>
                <a:off x="1671605" y="3429000"/>
                <a:ext cx="295536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정보 엔트로피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합성 투명도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음절 수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문법형태소 수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04263F-229A-8766-16EB-81D2B4086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05" y="3429000"/>
                <a:ext cx="2955361" cy="2308324"/>
              </a:xfrm>
              <a:prstGeom prst="rect">
                <a:avLst/>
              </a:prstGeom>
              <a:blipFill>
                <a:blip r:embed="rId3"/>
                <a:stretch>
                  <a:fillRect t="-4233" r="-5361" b="-89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048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2F0D-6A1D-BCF1-2675-DD97B443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47E97-6C14-E251-BCF4-76B6733891C7}"/>
                  </a:ext>
                </a:extLst>
              </p:cNvPr>
              <p:cNvSpPr txBox="1"/>
              <p:nvPr/>
            </p:nvSpPr>
            <p:spPr>
              <a:xfrm>
                <a:off x="1671605" y="3429000"/>
                <a:ext cx="295536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정보 엔트로피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프리젠테이션 4 Regular" pitchFamily="2" charset="-127"/>
                      </a:rPr>
                      <m:t>𝑃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확률질량함수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  <a:ea typeface="프리젠테이션 4 Regular" pitchFamily="2" charset="-127"/>
                      </a:rPr>
                      <m:t>𝑋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이산확률변수</a:t>
                </a:r>
                <a:endParaRPr lang="en-US" altLang="ko-KR" sz="3600" i="1" dirty="0">
                  <a:latin typeface="Cambria Math" panose="02040503050406030204" pitchFamily="18" charset="0"/>
                  <a:ea typeface="프리젠테이션 4 Regular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3600" i="1" smtClean="0">
                        <a:latin typeface="Cambria Math" panose="02040503050406030204" pitchFamily="18" charset="0"/>
                        <a:ea typeface="프리젠테이션 4 Regular" pitchFamily="2" charset="-127"/>
                      </a:rPr>
                      <m:t>𝒳</m:t>
                    </m:r>
                  </m:oMath>
                </a14:m>
                <a:r>
                  <a:rPr lang="en-US" altLang="ko-KR" sz="3600" dirty="0">
                    <a:latin typeface="프리젠테이션 4 Regular" pitchFamily="2" charset="-127"/>
                    <a:ea typeface="프리젠테이션 4 Regular" pitchFamily="2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3600" i="1" dirty="0" smtClean="0">
                        <a:latin typeface="Cambria Math" panose="02040503050406030204" pitchFamily="18" charset="0"/>
                        <a:ea typeface="프리젠테이션 4 Regular" pitchFamily="2" charset="-127"/>
                      </a:rPr>
                      <m:t>𝑋</m:t>
                    </m:r>
                  </m:oMath>
                </a14:m>
                <a:r>
                  <a:rPr lang="ko-KR" altLang="en-US" sz="3600" dirty="0">
                    <a:latin typeface="프리젠테이션 4 Regular" pitchFamily="2" charset="-127"/>
                    <a:ea typeface="프리젠테이션 4 Regular" pitchFamily="2" charset="-127"/>
                  </a:rPr>
                  <a:t>의 </a:t>
                </a:r>
                <a:r>
                  <a:rPr lang="ko-KR" altLang="en-US" sz="3600" dirty="0" err="1">
                    <a:latin typeface="프리젠테이션 4 Regular" pitchFamily="2" charset="-127"/>
                    <a:ea typeface="프리젠테이션 4 Regular" pitchFamily="2" charset="-127"/>
                  </a:rPr>
                  <a:t>치역</a:t>
                </a:r>
                <a:endParaRPr lang="en-US" altLang="ko-KR" sz="3600" dirty="0">
                  <a:latin typeface="프리젠테이션 4 Regular" pitchFamily="2" charset="-127"/>
                  <a:ea typeface="프리젠테이션 4 Regular" pitchFamily="2" charset="-127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47E97-6C14-E251-BCF4-76B673389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05" y="3429000"/>
                <a:ext cx="2955361" cy="2308324"/>
              </a:xfrm>
              <a:prstGeom prst="rect">
                <a:avLst/>
              </a:prstGeom>
              <a:blipFill>
                <a:blip r:embed="rId2"/>
                <a:stretch>
                  <a:fillRect t="-4233" r="-5155" b="-89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D0F48E5F-2829-D1E3-1129-094B7B1C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39" y="1201265"/>
            <a:ext cx="6315121" cy="1371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D77A35-AEE1-A49B-E9E2-466F22C1D751}"/>
              </a:ext>
            </a:extLst>
          </p:cNvPr>
          <p:cNvSpPr txBox="1"/>
          <p:nvPr/>
        </p:nvSpPr>
        <p:spPr>
          <a:xfrm>
            <a:off x="5541370" y="3429000"/>
            <a:ext cx="59474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정보가 나올 확률이 얼마나 낮은가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정보가 얼마나 새로운가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정보가 제공하는 의미가 얼마나 큰가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정보가 얼마나 중요한가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9C7F0-06F6-372A-75F6-FC8F73F41942}"/>
              </a:ext>
            </a:extLst>
          </p:cNvPr>
          <p:cNvSpPr txBox="1"/>
          <p:nvPr/>
        </p:nvSpPr>
        <p:spPr>
          <a:xfrm>
            <a:off x="3149285" y="5846483"/>
            <a:ext cx="5202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3600" dirty="0">
                <a:latin typeface="프리젠테이션 4 Regular" pitchFamily="2" charset="-127"/>
                <a:ea typeface="프리젠테이션 4 Regular" pitchFamily="2" charset="-127"/>
              </a:rPr>
              <a:t>물리학적으로도 엔트로피 맞음</a:t>
            </a:r>
            <a:r>
              <a:rPr lang="en-US" altLang="ko-KR" sz="36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7460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3AF238-0E15-B780-CA3A-B7DC420A4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478" y="1340593"/>
            <a:ext cx="3286149" cy="11049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8E4052-FB6D-4D65-CB20-15E870E8C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478" y="3181582"/>
            <a:ext cx="2305067" cy="5619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55DD17-9AA4-4A27-B4AB-9C631CD96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478" y="4479642"/>
            <a:ext cx="4305331" cy="6000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56FBC-AB3C-D47C-29C9-BAA12D73E430}"/>
              </a:ext>
            </a:extLst>
          </p:cNvPr>
          <p:cNvSpPr txBox="1"/>
          <p:nvPr/>
        </p:nvSpPr>
        <p:spPr>
          <a:xfrm>
            <a:off x="7536330" y="1709270"/>
            <a:ext cx="3212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의미벡터의 </a:t>
            </a:r>
            <a:r>
              <a:rPr lang="ko-KR" altLang="en-US" sz="2800" dirty="0" err="1">
                <a:latin typeface="프리젠테이션 4 Regular" pitchFamily="2" charset="-127"/>
                <a:ea typeface="프리젠테이션 4 Regular" pitchFamily="2" charset="-127"/>
              </a:rPr>
              <a:t>코사인유사도</a:t>
            </a:r>
            <a:endParaRPr lang="ko-KR" altLang="en-US" sz="28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806DD-6F25-0F0D-F8F0-89E5EE9B1492}"/>
              </a:ext>
            </a:extLst>
          </p:cNvPr>
          <p:cNvSpPr txBox="1"/>
          <p:nvPr/>
        </p:nvSpPr>
        <p:spPr>
          <a:xfrm>
            <a:off x="7536330" y="3152142"/>
            <a:ext cx="240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피험자의 반응속도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8C1C0-E383-DD9F-5802-DAAB1DD33397}"/>
              </a:ext>
            </a:extLst>
          </p:cNvPr>
          <p:cNvSpPr txBox="1"/>
          <p:nvPr/>
        </p:nvSpPr>
        <p:spPr>
          <a:xfrm>
            <a:off x="7536330" y="4595015"/>
            <a:ext cx="2871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통사 규범 위반 시 손실</a:t>
            </a:r>
          </a:p>
        </p:txBody>
      </p:sp>
    </p:spTree>
    <p:extLst>
      <p:ext uri="{BB962C8B-B14F-4D97-AF65-F5344CB8AC3E}">
        <p14:creationId xmlns:p14="http://schemas.microsoft.com/office/powerpoint/2010/main" val="1375759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D6DAC0-55DA-F4C7-5FCF-8639FEE04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82" y="1763793"/>
            <a:ext cx="9589436" cy="36090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FCD4B1-3F85-599D-5A6B-A5693F74C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932" y="857526"/>
            <a:ext cx="4998136" cy="5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0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F369-47B9-D297-482E-DCB51A9D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1BC996B-4675-9997-F1DE-DA91BD62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932" y="857526"/>
            <a:ext cx="4998136" cy="5756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DF505F-3793-5AA4-22E5-A191E74FE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695" y="1884265"/>
            <a:ext cx="4494610" cy="12772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0050FA-327B-28A0-3031-EE6330882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488" y="4799107"/>
            <a:ext cx="2655023" cy="12013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29D05-AD77-D0E2-9601-BC6D9553D9F2}"/>
              </a:ext>
            </a:extLst>
          </p:cNvPr>
          <p:cNvSpPr txBox="1"/>
          <p:nvPr/>
        </p:nvSpPr>
        <p:spPr>
          <a:xfrm>
            <a:off x="4019949" y="3429000"/>
            <a:ext cx="4152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비슷한 의미끼리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/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정보 엔트로피는 비슷하다고 가정</a:t>
            </a:r>
          </a:p>
        </p:txBody>
      </p:sp>
    </p:spTree>
    <p:extLst>
      <p:ext uri="{BB962C8B-B14F-4D97-AF65-F5344CB8AC3E}">
        <p14:creationId xmlns:p14="http://schemas.microsoft.com/office/powerpoint/2010/main" val="1019505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B53B-5A07-D13B-BB62-36F4795D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BD7555-A2ED-2015-AC09-11917E3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66" y="719416"/>
            <a:ext cx="4530081" cy="12496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869439C-A143-354C-2777-5D07F4ABC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65" y="2233327"/>
            <a:ext cx="6056005" cy="13107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9277AA-BDFE-2053-302C-2EB7E56FB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65" y="3956501"/>
            <a:ext cx="3753140" cy="13031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FAF05C-CE35-C82F-47F6-A6D208DB16F3}"/>
              </a:ext>
            </a:extLst>
          </p:cNvPr>
          <p:cNvSpPr txBox="1"/>
          <p:nvPr/>
        </p:nvSpPr>
        <p:spPr>
          <a:xfrm>
            <a:off x="7486838" y="1082645"/>
            <a:ext cx="3302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Replicator dynamics</a:t>
            </a:r>
            <a:endParaRPr lang="ko-KR" altLang="en-US" sz="28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285F6-1A55-468F-150E-E03919EAFB8C}"/>
              </a:ext>
            </a:extLst>
          </p:cNvPr>
          <p:cNvSpPr txBox="1"/>
          <p:nvPr/>
        </p:nvSpPr>
        <p:spPr>
          <a:xfrm>
            <a:off x="6981827" y="2432006"/>
            <a:ext cx="43123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원리 적용</a:t>
            </a:r>
            <a:endParaRPr lang="en-US" altLang="ko-KR" sz="28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/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(P=0.5</a:t>
            </a:r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일 때 최대인 </a:t>
            </a:r>
            <a:r>
              <a:rPr lang="ko-KR" altLang="en-US" sz="2800" dirty="0" err="1">
                <a:latin typeface="프리젠테이션 4 Regular" pitchFamily="2" charset="-127"/>
                <a:ea typeface="프리젠테이션 4 Regular" pitchFamily="2" charset="-127"/>
              </a:rPr>
              <a:t>시그모이드</a:t>
            </a: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28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EAB50-146B-565C-205D-85E7497C53D0}"/>
              </a:ext>
            </a:extLst>
          </p:cNvPr>
          <p:cNvSpPr txBox="1"/>
          <p:nvPr/>
        </p:nvSpPr>
        <p:spPr>
          <a:xfrm>
            <a:off x="7768106" y="4425994"/>
            <a:ext cx="2739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투명도의 시간변화</a:t>
            </a:r>
          </a:p>
        </p:txBody>
      </p:sp>
    </p:spTree>
    <p:extLst>
      <p:ext uri="{BB962C8B-B14F-4D97-AF65-F5344CB8AC3E}">
        <p14:creationId xmlns:p14="http://schemas.microsoft.com/office/powerpoint/2010/main" val="3201534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7F5D-C378-0CB5-6D39-4BEB53F6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4C4A0C-3EFB-3B62-B001-8913B025C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47" y="1423794"/>
            <a:ext cx="7305129" cy="27482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1981B1-0473-0817-A7DE-CE6092A2CD49}"/>
              </a:ext>
            </a:extLst>
          </p:cNvPr>
          <p:cNvSpPr txBox="1"/>
          <p:nvPr/>
        </p:nvSpPr>
        <p:spPr>
          <a:xfrm>
            <a:off x="3080591" y="4641147"/>
            <a:ext cx="6030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프리젠테이션 4 Regular" pitchFamily="2" charset="-127"/>
                <a:ea typeface="프리젠테이션 4 Regular" pitchFamily="2" charset="-127"/>
              </a:rPr>
              <a:t>얼마든지 새로운 항 추가하여 더 정교한 </a:t>
            </a:r>
            <a:r>
              <a:rPr lang="ko-KR" altLang="en-US" sz="2800">
                <a:latin typeface="프리젠테이션 4 Regular" pitchFamily="2" charset="-127"/>
                <a:ea typeface="프리젠테이션 4 Regular" pitchFamily="2" charset="-127"/>
              </a:rPr>
              <a:t>계산 가능</a:t>
            </a:r>
            <a:endParaRPr lang="ko-KR" altLang="en-US" sz="28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594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F98B66-678A-8E05-3E5F-33ABDA309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87" y="1456108"/>
            <a:ext cx="4847677" cy="3945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94EFD1-AF04-8161-F232-1256E9C53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38" y="1456108"/>
            <a:ext cx="3700035" cy="12525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B7C4BD-73B2-414A-D651-D50B5C36F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669" y="2844591"/>
            <a:ext cx="4443143" cy="132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9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393</Words>
  <Application>Microsoft Office PowerPoint</Application>
  <PresentationFormat>와이드스크린</PresentationFormat>
  <Paragraphs>141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</vt:lpstr>
      <vt:lpstr>페이퍼로지 7 Bold</vt:lpstr>
      <vt:lpstr>맑은 고딕</vt:lpstr>
      <vt:lpstr>Cambria Math</vt:lpstr>
      <vt:lpstr>프리젠테이션 4 Regular</vt:lpstr>
      <vt:lpstr>본고딕 Heavy</vt:lpstr>
      <vt:lpstr>Office 테마</vt:lpstr>
      <vt:lpstr>새로운 조어법 제안 및 그 수학적 근거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태준 황</dc:creator>
  <cp:lastModifiedBy>태준 황</cp:lastModifiedBy>
  <cp:revision>8</cp:revision>
  <dcterms:created xsi:type="dcterms:W3CDTF">2026-07-14T23:23:31Z</dcterms:created>
  <dcterms:modified xsi:type="dcterms:W3CDTF">2026-07-15T00:14:42Z</dcterms:modified>
</cp:coreProperties>
</file>